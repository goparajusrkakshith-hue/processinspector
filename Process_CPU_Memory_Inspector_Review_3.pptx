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228600" cy="6858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0"/>
            <a:ext cx="228600" cy="6858000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0"/>
            <a:ext cx="228600" cy="6858000"/>
          </a:xfrm>
          <a:prstGeom prst="rect">
            <a:avLst/>
          </a:prstGeom>
          <a:solidFill>
            <a:srgbClr val="2A4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3EC3CF"/>
                </a:solidFill>
                <a:latin typeface="Aptos"/>
              </a:defRPr>
            </a:pPr>
            <a:r>
              <a:t>OPERATING SYSTEMS &amp; KERNEL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Process CPU &amp; Memory Inspector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06040"/>
            <a:ext cx="74980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D3E7EB"/>
                </a:solidFill>
                <a:latin typeface="Aptos"/>
              </a:defRPr>
            </a:pPr>
            <a:r>
              <a:t>Integrated Process Metrics, System Memory and Robust Input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29000"/>
            <a:ext cx="6217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3EC3CF"/>
                </a:solidFill>
                <a:latin typeface="Aptos"/>
              </a:defRPr>
            </a:pPr>
            <a:r>
              <a:t>REVIEW 3  |  CORE PARSER → MULTI-SOURCE METRICS → INTEGRATED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160520"/>
            <a:ext cx="6949440" cy="1188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TEAM 6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Hemanth  •  2510030326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Yeshwanth  •  510030357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Akshith  •  2510030365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Parimal  •  2510030368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291072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DC3CC"/>
                </a:solidFill>
                <a:latin typeface="Aptos"/>
              </a:defRPr>
            </a:pPr>
            <a:r>
              <a:t>Koneru Lakshmaiah Education Foundation  •  Department of ECE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Review 3 — Development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3  •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9304"/>
            <a:ext cx="31729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From Review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09928"/>
            <a:ext cx="317296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Basic /proc/&lt;PID&gt;/status parsing for Name, State, PPid and VmRSS.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73152" cy="1828800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289304"/>
            <a:ext cx="31729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Work in this stage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709928"/>
            <a:ext cx="317296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Integrate a menu, current-process inspection, CPU sampling logic, RAM summary and input validation.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143000"/>
            <a:ext cx="73152" cy="1828800"/>
          </a:xfrm>
          <a:prstGeom prst="rect">
            <a:avLst/>
          </a:prstGeom>
          <a:solidFill>
            <a:srgbClr val="F5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289304"/>
            <a:ext cx="31729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Target by Review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709928"/>
            <a:ext cx="317296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Demonstrate an end-to-end diagnostic prototype with multiple information sources.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74720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02036"/>
                </a:solidFill>
                <a:latin typeface="Aptos"/>
              </a:defRPr>
            </a:pPr>
            <a:r>
              <a:t>Expanded implementation scope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160520"/>
            <a:ext cx="2240280" cy="82296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Process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2928" y="4389120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4160520"/>
            <a:ext cx="224028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Process stat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4389120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160520"/>
            <a:ext cx="224028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System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4389120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4160520"/>
            <a:ext cx="2240280" cy="82296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Menu/report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6F7F"/>
                </a:solidFill>
                <a:latin typeface="Aptos"/>
              </a:defRPr>
            </a:pPr>
            <a:r>
              <a:t>This stage is inferred as the intermediate step between the status-only version and the final review deck.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Updated Architecture — Multiple /proc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3  •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1965960" cy="86868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Menu / PID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168" y="173736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1508760"/>
            <a:ext cx="1965960" cy="86868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/proc/&lt;PID&gt;/status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7175" y="173736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2936" y="1508760"/>
            <a:ext cx="1965960" cy="86868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/proc/&lt;PID&gt;/stat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87183" y="173736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52944" y="1508760"/>
            <a:ext cx="1965960" cy="86868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/proc/meminfo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37192" y="173736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02952" y="1508760"/>
            <a:ext cx="1965960" cy="86868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Combined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6324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063240"/>
            <a:ext cx="73152" cy="150876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209544"/>
            <a:ext cx="303580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3630168"/>
            <a:ext cx="3035808" cy="8503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Human-readable attributes: name, state, parent PID, threads and RSS.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06324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063240"/>
            <a:ext cx="73152" cy="1508760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209544"/>
            <a:ext cx="303580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stat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630168"/>
            <a:ext cx="3035808" cy="8503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Compact counters used to estimate CPU activity from sampled process times.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06324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063240"/>
            <a:ext cx="73152" cy="1508760"/>
          </a:xfrm>
          <a:prstGeom prst="rect">
            <a:avLst/>
          </a:prstGeom>
          <a:solidFill>
            <a:srgbClr val="F5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3209544"/>
            <a:ext cx="303580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meminfo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3630168"/>
            <a:ext cx="3035808" cy="8503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System-level memory totals and available/free memory counters.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166360"/>
            <a:ext cx="102412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D6F7F"/>
                </a:solidFill>
                <a:latin typeface="Aptos"/>
              </a:defRPr>
            </a:pPr>
            <a:r>
              <a:t>Key design choice: each pseudo-file has a distinct parsing purpose; values are combined only after successful reads.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Menu-Driven User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3  •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73152" cy="1874519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289304"/>
            <a:ext cx="481888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Proposed interactive menu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4818888" cy="12161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1. Inspect a process by PID</a:t>
            </a:r>
          </a:p>
          <a:p>
            <a:pPr>
              <a:spcAft>
                <a:spcPts val="5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2. Inspect the current process</a:t>
            </a:r>
          </a:p>
          <a:p>
            <a:pPr>
              <a:spcAft>
                <a:spcPts val="5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3. View system memory</a:t>
            </a:r>
          </a:p>
          <a:p>
            <a:pPr>
              <a:spcAft>
                <a:spcPts val="5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4. Test PID / error handling</a:t>
            </a:r>
          </a:p>
          <a:p>
            <a:pPr>
              <a:spcAft>
                <a:spcPts val="500"/>
              </a:spcAft>
              <a:defRPr sz="1600" b="0">
                <a:solidFill>
                  <a:srgbClr val="23303E"/>
                </a:solidFill>
                <a:latin typeface="Aptos"/>
              </a:defRPr>
            </a:pPr>
            <a:r>
              <a:t>5. Exit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1874519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289304"/>
            <a:ext cx="481888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Why a menu helps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09928"/>
            <a:ext cx="4818888" cy="12161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Makes each operation easy to demonstrate</a:t>
            </a:r>
          </a:p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Reuses parsing functions</a:t>
            </a:r>
          </a:p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Avoids repeated command-line editing</a:t>
            </a:r>
          </a:p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• Gives invalid choices a clear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105156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02036"/>
                </a:solidFill>
                <a:latin typeface="Aptos"/>
              </a:defRPr>
            </a:pPr>
            <a:r>
              <a:t>User interaction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60520"/>
            <a:ext cx="1965960" cy="82296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Show menu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438912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52928" y="4160520"/>
            <a:ext cx="196596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Read choice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7175" y="438912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02936" y="4160520"/>
            <a:ext cx="196596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Validate 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3" y="438912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52944" y="4160520"/>
            <a:ext cx="196596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Run operation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7192" y="438912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02952" y="4160520"/>
            <a:ext cx="1965960" cy="82296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Return / exit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104241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D6F7F"/>
                </a:solidFill>
                <a:latin typeface="Aptos"/>
              </a:defRPr>
            </a:pPr>
            <a:r>
              <a:t>The menu and operation list reflect the later accepted implementation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Process Status: Beyond the First Four Fields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3  •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53949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02036"/>
                </a:solidFill>
                <a:latin typeface="Aptos"/>
              </a:defRPr>
            </a:pPr>
            <a:r>
              <a:t>Useful process-level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5303520" cy="320040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•  Name — process executable name.</a:t>
            </a:r>
          </a:p>
          <a:p>
            <a:pPr>
              <a:spcAft>
                <a:spcPts val="11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•  State — running, sleeping, stopped or other kernel state.</a:t>
            </a:r>
          </a:p>
          <a:p>
            <a:pPr>
              <a:spcAft>
                <a:spcPts val="11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•  PPid — parent process identifier.</a:t>
            </a:r>
          </a:p>
          <a:p>
            <a:pPr>
              <a:spcAft>
                <a:spcPts val="11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•  VmRSS — resident memory in kB.</a:t>
            </a:r>
          </a:p>
          <a:p>
            <a:pPr>
              <a:spcAft>
                <a:spcPts val="1100"/>
              </a:spcAft>
              <a:defRPr sz="1600">
                <a:solidFill>
                  <a:srgbClr val="23303E"/>
                </a:solidFill>
                <a:latin typeface="Aptos"/>
              </a:defRPr>
            </a:pPr>
            <a:r>
              <a:t>•  Threads — number of threads reported for the process.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25880"/>
            <a:ext cx="4846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73152" cy="132588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472184"/>
            <a:ext cx="449884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Parsing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892807"/>
            <a:ext cx="4498848" cy="667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Match exact field prefixes, then convert numeric fields only when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4846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880360"/>
            <a:ext cx="73152" cy="1325880"/>
          </a:xfrm>
          <a:prstGeom prst="rect">
            <a:avLst/>
          </a:prstGeom>
          <a:solidFill>
            <a:srgbClr val="F5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3026664"/>
            <a:ext cx="449884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Defensive behavior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447288"/>
            <a:ext cx="4498848" cy="667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Check file-open success and avoid assuming every PID remains available.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434840"/>
            <a:ext cx="48463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434840"/>
            <a:ext cx="73152" cy="1051560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4581144"/>
            <a:ext cx="449884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Important limitation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5001768"/>
            <a:ext cx="4498848" cy="39319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3303E"/>
                </a:solidFill>
                <a:latin typeface="Aptos"/>
              </a:defRPr>
            </a:pPr>
            <a:r>
              <a:t>Process state and counters can change between reads.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CPU Usage — Sampling Process Counters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3  • 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143000"/>
            <a:ext cx="73152" cy="18288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289304"/>
            <a:ext cx="50017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Read process counters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709928"/>
            <a:ext cx="500176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Read /proc/&lt;PID&gt;/stat and extract the process CPU-time counters (user and kernel time).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1828800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289304"/>
            <a:ext cx="491032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Take two samples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09928"/>
            <a:ext cx="491032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Capture counters at t₁ and t₂. CPU activity is inferred from the difference across the sampling interval.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02036"/>
                </a:solidFill>
                <a:latin typeface="Aptos"/>
              </a:defRPr>
            </a:pPr>
            <a:r>
              <a:t>Conceptual calculation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69080"/>
            <a:ext cx="1965960" cy="82296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Sample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429768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52928" y="4069080"/>
            <a:ext cx="196596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Wait briefly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7175" y="429768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02936" y="4069080"/>
            <a:ext cx="196596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Sample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3" y="429768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52944" y="4069080"/>
            <a:ext cx="196596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Calculate delta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7192" y="429768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02952" y="4069080"/>
            <a:ext cx="1965960" cy="82296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Display estimate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57800"/>
            <a:ext cx="1024128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D6F7F"/>
                </a:solidFill>
                <a:latin typeface="Aptos"/>
              </a:defRPr>
            </a:pPr>
            <a:r>
              <a:t>A snapshot of CPU time is not a percentage by itself. The estimate depends on the elapsed interval and the formula used in the implementation.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Robust Parsing of /proc/&lt;PID&gt;/stat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3  •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920240"/>
          </a:xfrm>
          <a:prstGeom prst="rect">
            <a:avLst/>
          </a:prstGeom>
          <a:solidFill>
            <a:srgbClr val="C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9304"/>
            <a:ext cx="31729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09928"/>
            <a:ext cx="3172968" cy="12618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The process command name is enclosed in parentheses and may contain spaces, so a naïve whitespace split can misalign later fields.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73152" cy="192024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289304"/>
            <a:ext cx="31729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Safer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709928"/>
            <a:ext cx="3172968" cy="12618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Locate the closing parenthesis around the command name, then parse the remaining fields relative to that boundary.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143000"/>
            <a:ext cx="73152" cy="1920240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289304"/>
            <a:ext cx="31729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Benefit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709928"/>
            <a:ext cx="3172968" cy="12618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Reduces the risk of reading the wrong CPU counters when a process name includes spaces.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20440"/>
            <a:ext cx="106984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02036"/>
                </a:solidFill>
                <a:latin typeface="Aptos"/>
              </a:defRPr>
            </a:pPr>
            <a:r>
              <a:t>Parsing principle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60520"/>
            <a:ext cx="2240280" cy="82296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Read stat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4389120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4160520"/>
            <a:ext cx="224028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Find ')' boundary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9008" y="4389120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160520"/>
            <a:ext cx="224028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Tokenize remainder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4389120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4160520"/>
            <a:ext cx="2240280" cy="82296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Extract counters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6F7F"/>
                </a:solidFill>
                <a:latin typeface="Aptos"/>
              </a:defRPr>
            </a:pPr>
            <a:r>
              <a:t>This is an implementation concern specific to /proc/&lt;PID&gt;/stat; the status file is more directly key/value oriented.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System Memory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3  • 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9304"/>
            <a:ext cx="50017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Source: /proc/meminfo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09928"/>
            <a:ext cx="500176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Read system-wide memory counters such as MemTotal, MemAvailable and MemFree. Values are generally reported in kB.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1828800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289304"/>
            <a:ext cx="491032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09928"/>
            <a:ext cx="491032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MemTotal describes total usable RAM; MemAvailable estimates memory available for new workloads; MemFree is currently unused memory.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1060704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02036"/>
                </a:solidFill>
                <a:latin typeface="Aptos"/>
              </a:defRPr>
            </a:pPr>
            <a:r>
              <a:t>Reporting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60520"/>
            <a:ext cx="2240280" cy="82296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Open meminfo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4389120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4160520"/>
            <a:ext cx="224028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Match keys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9008" y="4389120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160520"/>
            <a:ext cx="224028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Parse kB 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4389120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4160520"/>
            <a:ext cx="2240280" cy="82296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Format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49240"/>
            <a:ext cx="103327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6F7F"/>
                </a:solidFill>
                <a:latin typeface="Aptos"/>
              </a:defRPr>
            </a:pPr>
            <a:r>
              <a:t>Avoid treating MemFree as the only measure of available memory; MemAvailable is often a more useful estimate.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Input Validation &amp; Failure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3  • 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73152" cy="18288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43584"/>
            <a:ext cx="31729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PID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664207"/>
            <a:ext cx="317296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Reject non-numeric, zero or negative PID input before building the /proc path.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0972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097280"/>
            <a:ext cx="73152" cy="1828800"/>
          </a:xfrm>
          <a:prstGeom prst="rect">
            <a:avLst/>
          </a:prstGeom>
          <a:solidFill>
            <a:srgbClr val="F5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243584"/>
            <a:ext cx="31729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File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664207"/>
            <a:ext cx="317296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If a process exits between input and read, fopen() can fail; report the issue and return to the menu.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0972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097280"/>
            <a:ext cx="73152" cy="1828800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243584"/>
            <a:ext cx="31729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Menu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664207"/>
            <a:ext cx="317296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Handle unsupported menu choices and invalid text input without entering a broken loop.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29000"/>
            <a:ext cx="1060704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02036"/>
                </a:solidFill>
                <a:latin typeface="Aptos"/>
              </a:defRPr>
            </a:pPr>
            <a:r>
              <a:t>Failure path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69080"/>
            <a:ext cx="1965960" cy="82296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87168" y="429768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52928" y="4069080"/>
            <a:ext cx="196596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37175" y="429768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02936" y="4069080"/>
            <a:ext cx="196596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Operation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7183" y="429768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52944" y="4069080"/>
            <a:ext cx="196596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Error message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7192" y="4297680"/>
            <a:ext cx="3657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02952" y="4069080"/>
            <a:ext cx="1965960" cy="82296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Recover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257800"/>
            <a:ext cx="1042416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6F7F"/>
                </a:solidFill>
                <a:latin typeface="Aptos"/>
              </a:defRPr>
            </a:pPr>
            <a:r>
              <a:t>The final source includes PID/error testing as a menu operation; these are the robustness tasks that logically precede final verification.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Verification Strategy &amp; Test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3  •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2194560" cy="502920"/>
          </a:xfrm>
          <a:prstGeom prst="rect">
            <a:avLst/>
          </a:prstGeom>
          <a:solidFill>
            <a:srgbClr val="1020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39" y="1234440"/>
            <a:ext cx="3931920" cy="502920"/>
          </a:xfrm>
          <a:prstGeom prst="rect">
            <a:avLst/>
          </a:prstGeom>
          <a:solidFill>
            <a:srgbClr val="1020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Expected observation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59" y="1234440"/>
            <a:ext cx="4754880" cy="502920"/>
          </a:xfrm>
          <a:prstGeom prst="rect">
            <a:avLst/>
          </a:prstGeom>
          <a:solidFill>
            <a:srgbClr val="1020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Cross-check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1945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>
              <a:defRPr sz="1200">
                <a:solidFill>
                  <a:srgbClr val="23303E"/>
                </a:solidFill>
                <a:latin typeface="Aptos"/>
              </a:defRPr>
            </a:pPr>
            <a:r>
              <a:t>Existing PID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39" y="1737360"/>
            <a:ext cx="3931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>
              <a:defRPr sz="1200">
                <a:solidFill>
                  <a:srgbClr val="23303E"/>
                </a:solidFill>
                <a:latin typeface="Aptos"/>
              </a:defRPr>
            </a:pPr>
            <a:r>
              <a:t>Status fields appear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59" y="1737360"/>
            <a:ext cx="47548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>
              <a:defRPr sz="1200">
                <a:solidFill>
                  <a:srgbClr val="23303E"/>
                </a:solidFill>
                <a:latin typeface="Aptos"/>
              </a:defRPr>
            </a:pPr>
            <a:r>
              <a:t>cat /proc/&lt;PID&gt;/status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95728"/>
            <a:ext cx="2194560" cy="658368"/>
          </a:xfrm>
          <a:prstGeom prst="rect">
            <a:avLst/>
          </a:prstGeom>
          <a:solidFill>
            <a:srgbClr val="E5F0F2"/>
          </a:solidFill>
          <a:ln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>
              <a:defRPr sz="1200">
                <a:solidFill>
                  <a:srgbClr val="23303E"/>
                </a:solidFill>
                <a:latin typeface="Aptos"/>
              </a:defRPr>
            </a:pPr>
            <a:r>
              <a:t>Current process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39" y="2395728"/>
            <a:ext cx="3931920" cy="658368"/>
          </a:xfrm>
          <a:prstGeom prst="rect">
            <a:avLst/>
          </a:prstGeom>
          <a:solidFill>
            <a:srgbClr val="E5F0F2"/>
          </a:solidFill>
          <a:ln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>
              <a:defRPr sz="1200">
                <a:solidFill>
                  <a:srgbClr val="23303E"/>
                </a:solidFill>
                <a:latin typeface="Aptos"/>
              </a:defRPr>
            </a:pPr>
            <a:r>
              <a:t>Inspector can report itself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59" y="2395728"/>
            <a:ext cx="4754880" cy="658368"/>
          </a:xfrm>
          <a:prstGeom prst="rect">
            <a:avLst/>
          </a:prstGeom>
          <a:solidFill>
            <a:srgbClr val="E5F0F2"/>
          </a:solidFill>
          <a:ln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>
              <a:defRPr sz="1200">
                <a:solidFill>
                  <a:srgbClr val="23303E"/>
                </a:solidFill>
                <a:latin typeface="Aptos"/>
              </a:defRPr>
            </a:pPr>
            <a:r>
              <a:t>getpid() + /proc lookup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054096"/>
            <a:ext cx="21945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>
              <a:defRPr sz="1200">
                <a:solidFill>
                  <a:srgbClr val="23303E"/>
                </a:solidFill>
                <a:latin typeface="Aptos"/>
              </a:defRPr>
            </a:pPr>
            <a:r>
              <a:t>Missing PID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3054096"/>
            <a:ext cx="3931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>
              <a:defRPr sz="1200">
                <a:solidFill>
                  <a:srgbClr val="23303E"/>
                </a:solidFill>
                <a:latin typeface="Aptos"/>
              </a:defRPr>
            </a:pPr>
            <a:r>
              <a:t>Graceful error; no crash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59" y="3054096"/>
            <a:ext cx="47548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>
              <a:defRPr sz="1200">
                <a:solidFill>
                  <a:srgbClr val="23303E"/>
                </a:solidFill>
                <a:latin typeface="Aptos"/>
              </a:defRPr>
            </a:pPr>
            <a:r>
              <a:t>Use an unlikely PID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12464"/>
            <a:ext cx="2194560" cy="658368"/>
          </a:xfrm>
          <a:prstGeom prst="rect">
            <a:avLst/>
          </a:prstGeom>
          <a:solidFill>
            <a:srgbClr val="E5F0F2"/>
          </a:solidFill>
          <a:ln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>
              <a:defRPr sz="1200">
                <a:solidFill>
                  <a:srgbClr val="23303E"/>
                </a:solidFill>
                <a:latin typeface="Aptos"/>
              </a:defRPr>
            </a:pPr>
            <a:r>
              <a:t>System memory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39" y="3712464"/>
            <a:ext cx="3931920" cy="658368"/>
          </a:xfrm>
          <a:prstGeom prst="rect">
            <a:avLst/>
          </a:prstGeom>
          <a:solidFill>
            <a:srgbClr val="E5F0F2"/>
          </a:solidFill>
          <a:ln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>
              <a:defRPr sz="1200">
                <a:solidFill>
                  <a:srgbClr val="23303E"/>
                </a:solidFill>
                <a:latin typeface="Aptos"/>
              </a:defRPr>
            </a:pPr>
            <a:r>
              <a:t>Memory summary is printed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59" y="3712464"/>
            <a:ext cx="4754880" cy="658368"/>
          </a:xfrm>
          <a:prstGeom prst="rect">
            <a:avLst/>
          </a:prstGeom>
          <a:solidFill>
            <a:srgbClr val="E5F0F2"/>
          </a:solidFill>
          <a:ln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>
              <a:defRPr sz="1200">
                <a:solidFill>
                  <a:srgbClr val="23303E"/>
                </a:solidFill>
                <a:latin typeface="Aptos"/>
              </a:defRPr>
            </a:pPr>
            <a:r>
              <a:t>Compare with /proc/meminfo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370832"/>
            <a:ext cx="21945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>
              <a:defRPr sz="1200">
                <a:solidFill>
                  <a:srgbClr val="23303E"/>
                </a:solidFill>
                <a:latin typeface="Aptos"/>
              </a:defRPr>
            </a:pPr>
            <a:r>
              <a:t>CPU sampling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39" y="4370832"/>
            <a:ext cx="3931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>
              <a:defRPr sz="1200">
                <a:solidFill>
                  <a:srgbClr val="23303E"/>
                </a:solidFill>
                <a:latin typeface="Aptos"/>
              </a:defRPr>
            </a:pPr>
            <a:r>
              <a:t>Estimate changes with interval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59" y="4370832"/>
            <a:ext cx="47548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2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73152"/>
          <a:lstStyle/>
          <a:p>
            <a:pPr algn="ctr">
              <a:defRPr sz="1200">
                <a:solidFill>
                  <a:srgbClr val="23303E"/>
                </a:solidFill>
                <a:latin typeface="Aptos"/>
              </a:defRPr>
            </a:pPr>
            <a:r>
              <a:t>Compare repeated samples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440680"/>
            <a:ext cx="1042416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6F7F"/>
                </a:solidFill>
                <a:latin typeface="Aptos"/>
              </a:defRPr>
            </a:pPr>
            <a:r>
              <a:t>Capture actual output on the target Linux environment; expected observations are not fixed numeric results.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Compilation &amp; Demonstration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3  •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8288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9304"/>
            <a:ext cx="50017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Compile cleanly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09928"/>
            <a:ext cx="500176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gcc -Wall -Wextra -O2 process_inspector.c -o process_inspector</a:t>
            </a:r>
          </a:p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Resolve warnings and confirm the output executable is created.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1828800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289304"/>
            <a:ext cx="491032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Demonstrate each menu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09928"/>
            <a:ext cx="4910328" cy="11704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Inspect known PID • inspect self • view memory • try invalid PID • exit cleanly.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74720"/>
            <a:ext cx="105156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02036"/>
                </a:solidFill>
                <a:latin typeface="Aptos"/>
              </a:defRPr>
            </a:pPr>
            <a:r>
              <a:t>Evidence to collect for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10241280" cy="141732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303E"/>
                </a:solidFill>
                <a:latin typeface="Aptos"/>
              </a:defRPr>
            </a:pPr>
            <a:r>
              <a:t>•  Terminal screenshot showing the menu and one successful process report.</a:t>
            </a:r>
          </a:p>
          <a:p>
            <a:pPr>
              <a:spcAft>
                <a:spcPts val="1100"/>
              </a:spcAft>
              <a:defRPr sz="1500">
                <a:solidFill>
                  <a:srgbClr val="23303E"/>
                </a:solidFill>
                <a:latin typeface="Aptos"/>
              </a:defRPr>
            </a:pPr>
            <a:r>
              <a:t>•  Terminal screenshot showing system memory output and invalid-PID handling.</a:t>
            </a:r>
          </a:p>
          <a:p>
            <a:pPr>
              <a:spcAft>
                <a:spcPts val="1100"/>
              </a:spcAft>
              <a:defRPr sz="1500">
                <a:solidFill>
                  <a:srgbClr val="23303E"/>
                </a:solidFill>
                <a:latin typeface="Aptos"/>
              </a:defRPr>
            </a:pPr>
            <a:r>
              <a:t>•  Short comparison with ps and /proc files to demonstrate consistency.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5000"/>
            <a:ext cx="105156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5D6F7F"/>
                </a:solidFill>
                <a:latin typeface="Aptos"/>
              </a:defRPr>
            </a:pPr>
            <a:r>
              <a:t>Screenshots should be captured from the real run; this deck does not fabricate execution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Challenges, Decisions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3  •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874519"/>
          </a:xfrm>
          <a:prstGeom prst="rect">
            <a:avLst/>
          </a:prstGeom>
          <a:solidFill>
            <a:srgbClr val="F5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9304"/>
            <a:ext cx="31729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Changing process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09928"/>
            <a:ext cx="3172968" cy="12161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A process can exit or change state while the inspector is reading it. Reads are snapshots, not a locked 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73152" cy="1874519"/>
          </a:xfrm>
          <a:prstGeom prst="rect">
            <a:avLst/>
          </a:prstGeom>
          <a:solidFill>
            <a:srgbClr val="C2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289304"/>
            <a:ext cx="31729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Parsing compact stat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709928"/>
            <a:ext cx="3172968" cy="12161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The command field may contain spaces, so field offsets need careful handling.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4300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143000"/>
            <a:ext cx="73152" cy="1874519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289304"/>
            <a:ext cx="31729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CPU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709928"/>
            <a:ext cx="3172968" cy="12161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303E"/>
                </a:solidFill>
                <a:latin typeface="Aptos"/>
              </a:defRPr>
            </a:pPr>
            <a:r>
              <a:t>CPU usage is an estimate over a sampling window and depends on counter deltas and timing.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20440"/>
            <a:ext cx="105156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02036"/>
                </a:solidFill>
                <a:latin typeface="Aptos"/>
              </a:defRPr>
            </a:pPr>
            <a:r>
              <a:t>Engineering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10241280" cy="137160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303E"/>
                </a:solidFill>
                <a:latin typeface="Aptos"/>
              </a:defRPr>
            </a:pPr>
            <a:r>
              <a:t>•  Use standard C/POSIX interfaces rather than adding a kernel module.</a:t>
            </a:r>
          </a:p>
          <a:p>
            <a:pPr>
              <a:spcAft>
                <a:spcPts val="1100"/>
              </a:spcAft>
              <a:defRPr sz="1500">
                <a:solidFill>
                  <a:srgbClr val="23303E"/>
                </a:solidFill>
                <a:latin typeface="Aptos"/>
              </a:defRPr>
            </a:pPr>
            <a:r>
              <a:t>•  Keep file reading and parsing in separate reusable operations where possible.</a:t>
            </a:r>
          </a:p>
          <a:p>
            <a:pPr>
              <a:spcAft>
                <a:spcPts val="1100"/>
              </a:spcAft>
              <a:defRPr sz="1500">
                <a:solidFill>
                  <a:srgbClr val="23303E"/>
                </a:solidFill>
                <a:latin typeface="Aptos"/>
              </a:defRPr>
            </a:pPr>
            <a:r>
              <a:t>•  Report unavailable data instead of presenting guessed values.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00584"/>
            <a:ext cx="9966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Review 3 Summary &amp; Plan for Review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55448"/>
            <a:ext cx="150876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3EC3CF"/>
                </a:solidFill>
                <a:latin typeface="Aptos"/>
              </a:defRPr>
            </a:pPr>
            <a:r>
              <a:t>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565392"/>
            <a:ext cx="7863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OPERATING SYSTEMS &amp; KERNEL PROGRAMMING  |  Process CPU &amp; Memory Inspector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3796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D6F7F"/>
                </a:solidFill>
                <a:latin typeface="Aptos"/>
              </a:defRPr>
            </a:pPr>
            <a:r>
              <a:t>REVIEW 3  •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1874519"/>
          </a:xfrm>
          <a:prstGeom prst="rect">
            <a:avLst/>
          </a:prstGeom>
          <a:solidFill>
            <a:srgbClr val="378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289304"/>
            <a:ext cx="495604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Intermediate milestone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709928"/>
            <a:ext cx="4956048" cy="12161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A plausible integrated prototype: menu-driven process inspection, additional process counters, system RAM summary and stronger error paths.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43000"/>
            <a:ext cx="53035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E3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73152" cy="1874519"/>
          </a:xfrm>
          <a:prstGeom prst="rect">
            <a:avLst/>
          </a:prstGeom>
          <a:solidFill>
            <a:srgbClr val="3EC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289304"/>
            <a:ext cx="495604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02036"/>
                </a:solidFill>
                <a:latin typeface="Aptos"/>
              </a:defRPr>
            </a:pPr>
            <a:r>
              <a:t>Before final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09928"/>
            <a:ext cx="4956048" cy="12161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3303E"/>
                </a:solidFill>
                <a:latin typeface="Aptos"/>
              </a:defRPr>
            </a:pPr>
            <a:r>
              <a:t>Run end-to-end tests, confirm CPU calculation, compare output against standard tools, improve report layout and document limitations.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1060704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102036"/>
                </a:solidFill>
                <a:latin typeface="Aptos"/>
              </a:defRPr>
            </a:pPr>
            <a:r>
              <a:t>Review 4 demonstration targets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60520"/>
            <a:ext cx="2240280" cy="82296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Final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4389120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4160520"/>
            <a:ext cx="224028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Live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3288" y="4389120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160520"/>
            <a:ext cx="2240280" cy="822960"/>
          </a:xfrm>
          <a:prstGeom prst="round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CLI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7928" y="4389120"/>
            <a:ext cx="5760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3EC3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160520"/>
            <a:ext cx="2240280" cy="822960"/>
          </a:xfrm>
          <a:prstGeom prst="roundRect">
            <a:avLst/>
          </a:prstGeom>
          <a:solidFill>
            <a:srgbClr val="10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Results &amp; limits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D6F7F"/>
                </a:solidFill>
                <a:latin typeface="Aptos"/>
              </a:defRPr>
            </a:pPr>
            <a:r>
              <a:t>Review 3 content is reconstructed as a technically plausible development stage; keep only items that match what your team actually implemented by that date.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CPU &amp; Memory Inspector – Review 3</dc:title>
  <dc:subject>Operating Systems &amp; Kernel Programming project review</dc:subject>
  <dc:creator>Process CPU &amp; Memory Inspector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