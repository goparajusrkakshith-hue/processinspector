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228600" cy="685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0"/>
            <a:ext cx="228600" cy="6858000"/>
          </a:xfrm>
          <a:prstGeom prst="rect">
            <a:avLst/>
          </a:prstGeom>
          <a:solidFill>
            <a:srgbClr val="3E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0"/>
            <a:ext cx="228600" cy="6858000"/>
          </a:xfrm>
          <a:prstGeom prst="rect">
            <a:avLst/>
          </a:prstGeom>
          <a:solidFill>
            <a:srgbClr val="2A4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3EC3CF"/>
                </a:solidFill>
                <a:latin typeface="Aptos"/>
              </a:defRPr>
            </a:pPr>
            <a:r>
              <a:t>OPERATING SYSTEMS &amp; KERNEL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Process CPU &amp; Memory Inspector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06040"/>
            <a:ext cx="74980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D3E7EB"/>
                </a:solidFill>
                <a:latin typeface="Aptos"/>
              </a:defRPr>
            </a:pPr>
            <a:r>
              <a:t>Design and Initial Implementation of a Linux Process Inspector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429000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3EC3CF"/>
                </a:solidFill>
                <a:latin typeface="Aptos"/>
              </a:defRPr>
            </a:pPr>
            <a:r>
              <a:t>REVIEW 2  |  REQUIREMENT ANALYSIS → DESIGN → FIRST WORKING PARSER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160520"/>
            <a:ext cx="694944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TEAM 6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Hemanth  •  2510030326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Yeshwanth  •  510030357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Akshith  •  2510030365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Parimal  •  2510030368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291072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DC3CC"/>
                </a:solidFill>
                <a:latin typeface="Aptos"/>
              </a:defRPr>
            </a:pPr>
            <a:r>
              <a:t>Koneru Lakshmaiah Education Foundation  •  Department of ECE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Review 2 — Objectives &amp;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55448"/>
            <a:ext cx="150876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3EC3CF"/>
                </a:solidFill>
                <a:latin typeface="Aptos"/>
              </a:defRPr>
            </a:pPr>
            <a:r>
              <a:t>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65392"/>
            <a:ext cx="7863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OPERATING SYSTEMS &amp; KERNEL PROGRAMMING  |  Process CPU &amp; Memory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REVIEW 2  •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972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97280"/>
            <a:ext cx="73152" cy="18288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243584"/>
            <a:ext cx="31729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Problem identified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664207"/>
            <a:ext cx="3172968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Linux exposes useful process information, but raw /proc files require manual inspection and interpretation.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0972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097280"/>
            <a:ext cx="73152" cy="1828800"/>
          </a:xfrm>
          <a:prstGeom prst="rect">
            <a:avLst/>
          </a:prstGeom>
          <a:solidFill>
            <a:srgbClr val="3E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243584"/>
            <a:ext cx="31729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Planned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664207"/>
            <a:ext cx="3172968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Build a small C utility that accepts a PID, reads selected process fields and prints a compact report.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0972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097280"/>
            <a:ext cx="73152" cy="1828800"/>
          </a:xfrm>
          <a:prstGeom prst="rect">
            <a:avLst/>
          </a:prstGeom>
          <a:solidFill>
            <a:srgbClr val="F5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243584"/>
            <a:ext cx="31729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Review 2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664207"/>
            <a:ext cx="3172968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Prove the basic file-reading and parsing path first; advanced CPU and system-memory analysis can follow.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74720"/>
            <a:ext cx="107899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02036"/>
                </a:solidFill>
                <a:latin typeface="Aptos"/>
              </a:defRPr>
            </a:pPr>
            <a:r>
              <a:t>Milestone sequence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60520"/>
            <a:ext cx="2240280" cy="77724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Understand /proc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4389120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4160520"/>
            <a:ext cx="2240280" cy="77724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Design data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33288" y="4389120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160520"/>
            <a:ext cx="2240280" cy="77724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Implement parser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7928" y="4389120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4160520"/>
            <a:ext cx="2240280" cy="77724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Test PID cases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D6F7F"/>
                </a:solidFill>
                <a:latin typeface="Aptos"/>
              </a:defRPr>
            </a:pPr>
            <a:r>
              <a:t>Scope discipline: Review 2 focuses on the first reliable process report, not the final monitoring feature 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Why Linux /proc?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55448"/>
            <a:ext cx="150876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3EC3CF"/>
                </a:solidFill>
                <a:latin typeface="Aptos"/>
              </a:defRPr>
            </a:pPr>
            <a:r>
              <a:t>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65392"/>
            <a:ext cx="7863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OPERATING SYSTEMS &amp; KERNEL PROGRAMMING  |  Process CPU &amp; Memory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REVIEW 2  •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73152" cy="192024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80744"/>
            <a:ext cx="312724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Virtual filesystem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01368"/>
            <a:ext cx="3127248" cy="12618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The kernel generates entries dynamically. Process information can be read without parsing a disk-based log.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73152" cy="1920240"/>
          </a:xfrm>
          <a:prstGeom prst="rect">
            <a:avLst/>
          </a:prstGeom>
          <a:solidFill>
            <a:srgbClr val="3E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380744"/>
            <a:ext cx="312724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Per-process directory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801368"/>
            <a:ext cx="3127248" cy="12618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A process is represented under /proc/&lt;PID&gt;/; status contains human-readable key/value fields.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344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234440"/>
            <a:ext cx="73152" cy="1920240"/>
          </a:xfrm>
          <a:prstGeom prst="rect">
            <a:avLst/>
          </a:prstGeom>
          <a:solidFill>
            <a:srgbClr val="F5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380744"/>
            <a:ext cx="312724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User-space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801368"/>
            <a:ext cx="3127248" cy="12618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Standard C file I/O can read the pseudo-file. No custom kernel module is required for this scope.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1060704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02036"/>
                </a:solidFill>
                <a:latin typeface="Aptos"/>
              </a:defRPr>
            </a:pPr>
            <a:r>
              <a:t>Example files considered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43400"/>
            <a:ext cx="4937760" cy="141732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•  /proc/&lt;PID&gt;/status — readable process attributes</a:t>
            </a:r>
          </a:p>
          <a:p>
            <a:pPr>
              <a:spcAft>
                <a:spcPts val="11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•  /proc/&lt;PID&gt;/stat — compact scheduler/process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343400"/>
            <a:ext cx="4937760" cy="141732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•  /proc/meminfo — system-wide memory counters</a:t>
            </a:r>
          </a:p>
          <a:p>
            <a:pPr>
              <a:spcAft>
                <a:spcPts val="11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•  /proc/stat — CPU counters used in a later enhancement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Requirements &amp; Functional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55448"/>
            <a:ext cx="150876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3EC3CF"/>
                </a:solidFill>
                <a:latin typeface="Aptos"/>
              </a:defRPr>
            </a:pPr>
            <a:r>
              <a:t>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65392"/>
            <a:ext cx="7863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OPERATING SYSTEMS &amp; KERNEL PROGRAMMING  |  Process CPU &amp; Memory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REVIEW 2  •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88720"/>
            <a:ext cx="73152" cy="18288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35024"/>
            <a:ext cx="495604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Functional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55648"/>
            <a:ext cx="4956048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Receive a process ID (PID)</a:t>
            </a:r>
          </a:p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Construct the matching /proc path</a:t>
            </a:r>
          </a:p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Read selected fields</a:t>
            </a:r>
          </a:p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Display a clear terminal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73152" cy="1828800"/>
          </a:xfrm>
          <a:prstGeom prst="rect">
            <a:avLst/>
          </a:prstGeom>
          <a:solidFill>
            <a:srgbClr val="3E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335024"/>
            <a:ext cx="495604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Non-functional 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55648"/>
            <a:ext cx="4956048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Use bounded buffers</a:t>
            </a:r>
          </a:p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Handle missing or invalid processes</a:t>
            </a:r>
          </a:p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Close files after reading</a:t>
            </a:r>
          </a:p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Keep dependencies minimal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20440"/>
            <a:ext cx="1069848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02036"/>
                </a:solidFill>
                <a:latin typeface="Aptos"/>
              </a:defRPr>
            </a:pPr>
            <a:r>
              <a:t>Initial process attributes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206240"/>
            <a:ext cx="2057400" cy="82296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43484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4206240"/>
            <a:ext cx="2057400" cy="82296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443484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4206240"/>
            <a:ext cx="2057400" cy="82296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PPid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443484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4206240"/>
            <a:ext cx="2057400" cy="82296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VmRSS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303520"/>
            <a:ext cx="102412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D6F7F"/>
                </a:solidFill>
                <a:latin typeface="Aptos"/>
              </a:defRPr>
            </a:pPr>
            <a:r>
              <a:t>These fields form a small but useful first version of the inspector.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System Design — First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55448"/>
            <a:ext cx="150876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3EC3CF"/>
                </a:solidFill>
                <a:latin typeface="Aptos"/>
              </a:defRPr>
            </a:pPr>
            <a:r>
              <a:t>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65392"/>
            <a:ext cx="7863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OPERATING SYSTEMS &amp; KERNEL PROGRAMMING  |  Process CPU &amp; Memory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REVIEW 2  •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1965960" cy="91440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User PID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7168" y="2148840"/>
            <a:ext cx="365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2928" y="1920240"/>
            <a:ext cx="1965960" cy="91440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Path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37175" y="2148840"/>
            <a:ext cx="365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2936" y="1920240"/>
            <a:ext cx="1965960" cy="91440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/proc/&lt;PID&gt;/status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87183" y="2148840"/>
            <a:ext cx="365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52944" y="1920240"/>
            <a:ext cx="1965960" cy="91440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Parser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37192" y="2148840"/>
            <a:ext cx="365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02952" y="1920240"/>
            <a:ext cx="1965960" cy="91440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Terminal 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73152" cy="141732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803904"/>
            <a:ext cx="303580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Input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224528"/>
            <a:ext cx="3035808" cy="7589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Read a PID and ensure it is a plausible positive process identifier.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3657600"/>
            <a:ext cx="73152" cy="1417320"/>
          </a:xfrm>
          <a:prstGeom prst="rect">
            <a:avLst/>
          </a:prstGeom>
          <a:solidFill>
            <a:srgbClr val="3E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3803904"/>
            <a:ext cx="303580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Parsing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4224528"/>
            <a:ext cx="3035808" cy="7589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Read one line at a time and compare known field prefixes.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3657600"/>
            <a:ext cx="73152" cy="1417320"/>
          </a:xfrm>
          <a:prstGeom prst="rect">
            <a:avLst/>
          </a:prstGeom>
          <a:solidFill>
            <a:srgbClr val="F5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3803904"/>
            <a:ext cx="303580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Output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4224528"/>
            <a:ext cx="3035808" cy="7589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Print only the required fields and release the open file stream.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D6F7F"/>
                </a:solidFill>
                <a:latin typeface="Aptos"/>
              </a:defRPr>
            </a:pPr>
            <a:r>
              <a:t>Design principle: separate path creation, file access, field extraction and reporting.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Core Logic: Build, Open,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55448"/>
            <a:ext cx="150876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3EC3CF"/>
                </a:solidFill>
                <a:latin typeface="Aptos"/>
              </a:defRPr>
            </a:pPr>
            <a:r>
              <a:t>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65392"/>
            <a:ext cx="7863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OPERATING SYSTEMS &amp; KERNEL PROGRAMMING  |  Process CPU &amp; Memory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REVIEW 2  •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289304"/>
            <a:ext cx="504748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1  Build a bounded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09928"/>
            <a:ext cx="5047488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3303E"/>
                </a:solidFill>
                <a:latin typeface="Aptos"/>
              </a:defRPr>
            </a:pPr>
            <a:r>
              <a:t>snprintf(path, sizeof(path), "/proc/%d/status", pid);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484632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D6F7F"/>
                </a:solidFill>
                <a:latin typeface="Aptos"/>
              </a:defRPr>
            </a:pPr>
            <a:r>
              <a:t>The target path is created dynamically from the requested PID. snprintf() limits writes to the destination buffer.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14300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143000"/>
            <a:ext cx="73152" cy="1828800"/>
          </a:xfrm>
          <a:prstGeom prst="rect">
            <a:avLst/>
          </a:prstGeom>
          <a:solidFill>
            <a:srgbClr val="3E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289304"/>
            <a:ext cx="491032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2  Open the pseudo-file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1709928"/>
            <a:ext cx="4910328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FILE *fp = fopen(path, "r");</a:t>
            </a:r>
          </a:p>
          <a:p>
            <a:pPr>
              <a:spcAft>
                <a:spcPts val="5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if (fp == NULL) { /* report error */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057400"/>
            <a:ext cx="466344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D6F7F"/>
                </a:solidFill>
                <a:latin typeface="Aptos"/>
              </a:defRPr>
            </a:pPr>
            <a:r>
              <a:t>Opening can fail when a PID does not exist or access is denied, so the return value must be checked.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2900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29000"/>
            <a:ext cx="73152" cy="1828800"/>
          </a:xfrm>
          <a:prstGeom prst="rect">
            <a:avLst/>
          </a:prstGeom>
          <a:solidFill>
            <a:srgbClr val="F5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575304"/>
            <a:ext cx="504748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3  Stream 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995928"/>
            <a:ext cx="5047488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3303E"/>
                </a:solidFill>
                <a:latin typeface="Aptos"/>
              </a:defRPr>
            </a:pPr>
            <a:r>
              <a:t>while (fgets(line, sizeof(line), fp) != NULL) { ...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480060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D6F7F"/>
                </a:solidFill>
                <a:latin typeface="Aptos"/>
              </a:defRPr>
            </a:pPr>
            <a:r>
              <a:t>Line-by-line reading avoids loading the entire status file into one large buffer.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42900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429000"/>
            <a:ext cx="73152" cy="1828800"/>
          </a:xfrm>
          <a:prstGeom prst="rect">
            <a:avLst/>
          </a:prstGeom>
          <a:solidFill>
            <a:srgbClr val="378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7" y="3575304"/>
            <a:ext cx="491032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4  Release resources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3995928"/>
            <a:ext cx="4910328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303E"/>
                </a:solidFill>
                <a:latin typeface="Aptos"/>
              </a:defRPr>
            </a:pPr>
            <a:r>
              <a:t>fclose(fp);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251960"/>
            <a:ext cx="466344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D6F7F"/>
                </a:solidFill>
                <a:latin typeface="Aptos"/>
              </a:defRPr>
            </a:pPr>
            <a:r>
              <a:t>Close the stream after parsing so resources are not left open.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Field Extraction — Main Parsing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55448"/>
            <a:ext cx="150876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3EC3CF"/>
                </a:solidFill>
                <a:latin typeface="Aptos"/>
              </a:defRPr>
            </a:pPr>
            <a:r>
              <a:t>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65392"/>
            <a:ext cx="7863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OPERATING SYSTEMS &amp; KERNEL PROGRAMMING  |  Process CPU &amp; Memory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REVIEW 2  •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64008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Illustrative C snippet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6400800" cy="283464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5943600" cy="2286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CCF5F1"/>
                </a:solidFill>
                <a:latin typeface="Consolas"/>
              </a:defRPr>
            </a:pPr>
            <a:r>
              <a:t>if (strncmp(line, "Name:", 5) == 0 ||</a:t>
            </a:r>
          </a:p>
          <a:p>
            <a:pPr>
              <a:spcAft>
                <a:spcPts val="500"/>
              </a:spcAft>
              <a:defRPr sz="1700" b="0">
                <a:solidFill>
                  <a:srgbClr val="CCF5F1"/>
                </a:solidFill>
                <a:latin typeface="Consolas"/>
              </a:defRPr>
            </a:pPr>
            <a:r>
              <a:t>    strncmp(line, "State:", 6) == 0 ||</a:t>
            </a:r>
          </a:p>
          <a:p>
            <a:pPr>
              <a:spcAft>
                <a:spcPts val="500"/>
              </a:spcAft>
              <a:defRPr sz="1700" b="0">
                <a:solidFill>
                  <a:srgbClr val="CCF5F1"/>
                </a:solidFill>
                <a:latin typeface="Consolas"/>
              </a:defRPr>
            </a:pPr>
            <a:r>
              <a:t>    strncmp(line, "PPid:", 5) == 0 ||</a:t>
            </a:r>
          </a:p>
          <a:p>
            <a:pPr>
              <a:spcAft>
                <a:spcPts val="500"/>
              </a:spcAft>
              <a:defRPr sz="1700" b="0">
                <a:solidFill>
                  <a:srgbClr val="CCF5F1"/>
                </a:solidFill>
                <a:latin typeface="Consolas"/>
              </a:defRPr>
            </a:pPr>
            <a:r>
              <a:t>    strncmp(line, "VmRSS:", 6) == 0) {</a:t>
            </a:r>
          </a:p>
          <a:p>
            <a:pPr>
              <a:spcAft>
                <a:spcPts val="500"/>
              </a:spcAft>
              <a:defRPr sz="1700" b="0">
                <a:solidFill>
                  <a:srgbClr val="CCF5F1"/>
                </a:solidFill>
                <a:latin typeface="Consolas"/>
              </a:defRPr>
            </a:pPr>
            <a:r>
              <a:t>    printf("%s", line);</a:t>
            </a:r>
          </a:p>
          <a:p>
            <a:pPr>
              <a:spcAft>
                <a:spcPts val="500"/>
              </a:spcAft>
              <a:defRPr sz="1700" b="0">
                <a:solidFill>
                  <a:srgbClr val="CCF5F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3931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508760"/>
            <a:ext cx="73152" cy="1143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1655063"/>
            <a:ext cx="358444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strncmp()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075688"/>
            <a:ext cx="3584448" cy="4846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Compares only the prefix length needed for a field label.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834640"/>
            <a:ext cx="3931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2834640"/>
            <a:ext cx="73152" cy="1143000"/>
          </a:xfrm>
          <a:prstGeom prst="rect">
            <a:avLst/>
          </a:prstGeom>
          <a:solidFill>
            <a:srgbClr val="3E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2980944"/>
            <a:ext cx="358444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Selected keys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3401568"/>
            <a:ext cx="3584448" cy="4846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Name, State, PPid and VmRSS are printed; unrelated lines are ignored.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4160520"/>
            <a:ext cx="3931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79" y="4160520"/>
            <a:ext cx="73152" cy="1143000"/>
          </a:xfrm>
          <a:prstGeom prst="rect">
            <a:avLst/>
          </a:prstGeom>
          <a:solidFill>
            <a:srgbClr val="F5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9248" y="4306824"/>
            <a:ext cx="358444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Why this is enough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4727448"/>
            <a:ext cx="3584448" cy="4846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The first version turns raw kernel text into a compact report.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74920"/>
            <a:ext cx="640080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6F7F"/>
                </a:solidFill>
                <a:latin typeface="Aptos"/>
              </a:defRPr>
            </a:pPr>
            <a:r>
              <a:t>This snippet illustrates the central parsing idea, not the entire source file.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Error Handling &amp; Test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55448"/>
            <a:ext cx="150876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3EC3CF"/>
                </a:solidFill>
                <a:latin typeface="Aptos"/>
              </a:defRPr>
            </a:pPr>
            <a:r>
              <a:t>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65392"/>
            <a:ext cx="7863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OPERATING SYSTEMS &amp; KERNEL PROGRAMMING  |  Process CPU &amp; Memory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REVIEW 2  • 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1874519"/>
          </a:xfrm>
          <a:prstGeom prst="rect">
            <a:avLst/>
          </a:prstGeom>
          <a:solidFill>
            <a:srgbClr val="378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289304"/>
            <a:ext cx="31729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Valid PID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09928"/>
            <a:ext cx="3172968" cy="12161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Input: an existing process ID</a:t>
            </a:r>
          </a:p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Expected: selected status fields are printed.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73152" cy="1874519"/>
          </a:xfrm>
          <a:prstGeom prst="rect">
            <a:avLst/>
          </a:prstGeom>
          <a:solidFill>
            <a:srgbClr val="3E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289304"/>
            <a:ext cx="31729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Self inspection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709928"/>
            <a:ext cx="3172968" cy="12161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Input: getpid()</a:t>
            </a:r>
          </a:p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Expected: report for the running inspector process.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4300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143000"/>
            <a:ext cx="73152" cy="1874519"/>
          </a:xfrm>
          <a:prstGeom prst="rect">
            <a:avLst/>
          </a:prstGeom>
          <a:solidFill>
            <a:srgbClr val="C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289304"/>
            <a:ext cx="31729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Missing PID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709928"/>
            <a:ext cx="3172968" cy="12161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Input: a non-existent PID</a:t>
            </a:r>
          </a:p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Expected: open failure is reported without a crash.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74720"/>
            <a:ext cx="10698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02036"/>
                </a:solidFill>
                <a:latin typeface="Aptos"/>
              </a:defRPr>
            </a:pPr>
            <a:r>
              <a:t>Verification approach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10332720" cy="150876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•  Compare field names and values with cat /proc/&lt;PID&gt;/status.</a:t>
            </a:r>
          </a:p>
          <a:p>
            <a:pPr>
              <a:spcAft>
                <a:spcPts val="11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•  Cross-check PID, PPID, state and resident memory with ps.</a:t>
            </a:r>
          </a:p>
          <a:p>
            <a:pPr>
              <a:spcAft>
                <a:spcPts val="11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•  Treat changing memory values as runtime observations, not fixed expected constants.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1024128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D6F7F"/>
                </a:solidFill>
                <a:latin typeface="Aptos"/>
              </a:defRPr>
            </a:pPr>
            <a:r>
              <a:t>Test plan describes intended checks; machine-dependent values must be captured during a live 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Build &amp; Demonstration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55448"/>
            <a:ext cx="150876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3EC3CF"/>
                </a:solidFill>
                <a:latin typeface="Aptos"/>
              </a:defRPr>
            </a:pPr>
            <a:r>
              <a:t>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65392"/>
            <a:ext cx="7863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OPERATING SYSTEMS &amp; KERNEL PROGRAMMING  |  Process CPU &amp; Memory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REVIEW 2  • 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240280" cy="82296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Save C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1828800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240280" cy="82296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Compile with gcc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3288" y="1828800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00200"/>
            <a:ext cx="2240280" cy="82296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Run with PID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67928" y="1828800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600200"/>
            <a:ext cx="2240280" cy="82296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Compare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017520"/>
            <a:ext cx="73152" cy="164592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163824"/>
            <a:ext cx="486460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Build command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584448"/>
            <a:ext cx="4864608" cy="987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gcc -Wall -Wextra -O2 process_inspector.c -o process_inspector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01752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017520"/>
            <a:ext cx="73152" cy="1645920"/>
          </a:xfrm>
          <a:prstGeom prst="rect">
            <a:avLst/>
          </a:prstGeom>
          <a:solidFill>
            <a:srgbClr val="3E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163824"/>
            <a:ext cx="486460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Example 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584448"/>
            <a:ext cx="4864608" cy="9875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./process_inspector 1</a:t>
            </a:r>
          </a:p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(or run the interactive version if available)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166360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D6F7F"/>
                </a:solidFill>
                <a:latin typeface="Aptos"/>
              </a:defRPr>
            </a:pPr>
            <a:r>
              <a:t>Demonstration checklist: successful compile • valid PID • readable output • missing PID handled safely • comparison against Linux tools.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Review 2 Outcome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55448"/>
            <a:ext cx="150876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3EC3CF"/>
                </a:solidFill>
                <a:latin typeface="Aptos"/>
              </a:defRPr>
            </a:pPr>
            <a:r>
              <a:t>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65392"/>
            <a:ext cx="7863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OPERATING SYSTEMS &amp; KERNEL PROGRAMMING  |  Process CPU &amp; Memory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REVIEW 2  •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378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289304"/>
            <a:ext cx="495604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Expected outcome for this 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09928"/>
            <a:ext cx="4956048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A working first version that reads /proc/&lt;PID&gt;/status, extracts four fields and handles a file-open failure.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73152" cy="1828800"/>
          </a:xfrm>
          <a:prstGeom prst="rect">
            <a:avLst/>
          </a:prstGeom>
          <a:solidFill>
            <a:srgbClr val="F5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289304"/>
            <a:ext cx="495604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Known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09928"/>
            <a:ext cx="4956048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Single-process snapshot; CPU utilization is not yet calculated; system-wide RAM is not yet summarized; no continuous sampling.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20440"/>
            <a:ext cx="1069848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02036"/>
                </a:solidFill>
                <a:latin typeface="Aptos"/>
              </a:defRPr>
            </a:pPr>
            <a:r>
              <a:t>Proposed work before Review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332720" cy="141732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•  Add a menu-driven interface and stronger PID/input validation.</a:t>
            </a:r>
          </a:p>
          <a:p>
            <a:pPr>
              <a:spcAft>
                <a:spcPts val="11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•  Use /proc/&lt;PID&gt;/stat for CPU-time counters and calculate a usage estimate.</a:t>
            </a:r>
          </a:p>
          <a:p>
            <a:pPr>
              <a:spcAft>
                <a:spcPts val="11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•  Read /proc/meminfo to summarize system memory.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06440"/>
            <a:ext cx="106070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D6F7F"/>
                </a:solidFill>
                <a:latin typeface="Aptos"/>
              </a:defRPr>
            </a:pPr>
            <a:r>
              <a:t>The roadmap above is a plausible development progression, inferred from the later final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CPU &amp; Memory Inspector – Review 2</dc:title>
  <dc:subject>Operating Systems &amp; Kernel Programming project review</dc:subject>
  <dc:creator>Process CPU &amp; Memory Inspector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